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29adcb1204ce0" /><Relationship Type="http://schemas.openxmlformats.org/officeDocument/2006/relationships/extended-properties" Target="/docProps/app.xml" Id="R718acc99ee154889" /><Relationship Type="http://schemas.openxmlformats.org/officeDocument/2006/relationships/officeDocument" Target="/ppt/presentation.xml" Id="Red6b4b5954874d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a4ec1b2824a10"/>
  </p:sldMasterIdLst>
  <p:notesMasterIdLst>
    <p:notesMasterId xmlns:r="http://schemas.openxmlformats.org/officeDocument/2006/relationships" r:id="R2102111c66e44066"/>
  </p:notesMasterIdLst>
  <p:sldIdLst>
    <p:sldId xmlns:r="http://schemas.openxmlformats.org/officeDocument/2006/relationships" id="256" r:id="R4fde4eee376c4e35"/>
    <p:sldId xmlns:r="http://schemas.openxmlformats.org/officeDocument/2006/relationships" id="257" r:id="Rd76730b2435447dc"/>
    <p:sldId xmlns:r="http://schemas.openxmlformats.org/officeDocument/2006/relationships" id="258" r:id="Rfa3dd513ef51412e"/>
    <p:sldId xmlns:r="http://schemas.openxmlformats.org/officeDocument/2006/relationships" id="259" r:id="R9eaec6e8409f4951"/>
    <p:sldId xmlns:r="http://schemas.openxmlformats.org/officeDocument/2006/relationships" id="260" r:id="R26f885cf07ff4279"/>
    <p:sldId xmlns:r="http://schemas.openxmlformats.org/officeDocument/2006/relationships" id="261" r:id="Rb37e8d8b02694f0b"/>
    <p:sldId xmlns:r="http://schemas.openxmlformats.org/officeDocument/2006/relationships" id="262" r:id="R2e7335c0c8ec4c02"/>
    <p:sldId xmlns:r="http://schemas.openxmlformats.org/officeDocument/2006/relationships" id="263" r:id="Rbd705bff0e0f4531"/>
    <p:sldId xmlns:r="http://schemas.openxmlformats.org/officeDocument/2006/relationships" id="264" r:id="R15ebba2308284fc1"/>
    <p:sldId xmlns:r="http://schemas.openxmlformats.org/officeDocument/2006/relationships" id="265" r:id="R1dc2fcba5321455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a4ec1b2824a10" /><Relationship Type="http://schemas.openxmlformats.org/officeDocument/2006/relationships/theme" Target="/ppt/theme/theme1.xml" Id="Raf681cf2af9b4ea1" /><Relationship Type="http://schemas.openxmlformats.org/officeDocument/2006/relationships/notesMaster" Target="/ppt/notesMasters/notesMaster1.xml" Id="R2102111c66e44066" /><Relationship Type="http://schemas.openxmlformats.org/officeDocument/2006/relationships/presProps" Target="/ppt/presProps.xml" Id="Rdc1e44d77fbe42af" /><Relationship Type="http://schemas.openxmlformats.org/officeDocument/2006/relationships/viewProps" Target="/ppt/viewProps.xml" Id="R1f41a55ffe8a498a" /><Relationship Type="http://schemas.openxmlformats.org/officeDocument/2006/relationships/tableStyles" Target="/ppt/tableStyles.xml" Id="R21f4c6d64256447f" /><Relationship Type="http://schemas.openxmlformats.org/officeDocument/2006/relationships/slide" Target="/ppt/slides/slide1.xml" Id="R4fde4eee376c4e35" /><Relationship Type="http://schemas.openxmlformats.org/officeDocument/2006/relationships/slide" Target="/ppt/slides/slide2.xml" Id="Rd76730b2435447dc" /><Relationship Type="http://schemas.openxmlformats.org/officeDocument/2006/relationships/slide" Target="/ppt/slides/slide3.xml" Id="Rfa3dd513ef51412e" /><Relationship Type="http://schemas.openxmlformats.org/officeDocument/2006/relationships/slide" Target="/ppt/slides/slide4.xml" Id="R9eaec6e8409f4951" /><Relationship Type="http://schemas.openxmlformats.org/officeDocument/2006/relationships/slide" Target="/ppt/slides/slide5.xml" Id="R26f885cf07ff4279" /><Relationship Type="http://schemas.openxmlformats.org/officeDocument/2006/relationships/slide" Target="/ppt/slides/slide6.xml" Id="Rb37e8d8b02694f0b" /><Relationship Type="http://schemas.openxmlformats.org/officeDocument/2006/relationships/slide" Target="/ppt/slides/slide7.xml" Id="R2e7335c0c8ec4c02" /><Relationship Type="http://schemas.openxmlformats.org/officeDocument/2006/relationships/slide" Target="/ppt/slides/slide8.xml" Id="Rbd705bff0e0f4531" /><Relationship Type="http://schemas.openxmlformats.org/officeDocument/2006/relationships/slide" Target="/ppt/slides/slide9.xml" Id="R15ebba2308284fc1" /><Relationship Type="http://schemas.openxmlformats.org/officeDocument/2006/relationships/slide" Target="/ppt/slides/slide10.xml" Id="R1dc2fcba5321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e0c9c44d6c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5cfc1ef4a4a86" /><Relationship Type="http://schemas.openxmlformats.org/officeDocument/2006/relationships/notesMaster" Target="/ppt/notesMasters/notesMaster1.xml" Id="Re6ad98ec50fa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2b6aa5e850417b" /><Relationship Type="http://schemas.openxmlformats.org/officeDocument/2006/relationships/notesMaster" Target="/ppt/notesMasters/notesMaster1.xml" Id="R57dfb7f34ea1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da1fad0d824178" /><Relationship Type="http://schemas.openxmlformats.org/officeDocument/2006/relationships/notesMaster" Target="/ppt/notesMasters/notesMaster1.xml" Id="R91db4604e16b46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51334afc48455c" /><Relationship Type="http://schemas.openxmlformats.org/officeDocument/2006/relationships/notesMaster" Target="/ppt/notesMasters/notesMaster1.xml" Id="Rda033144fd544e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2ffe9c4ba5461e" /><Relationship Type="http://schemas.openxmlformats.org/officeDocument/2006/relationships/notesMaster" Target="/ppt/notesMasters/notesMaster1.xml" Id="R8e8e7248f9a147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0ffd87bc44eea" /><Relationship Type="http://schemas.openxmlformats.org/officeDocument/2006/relationships/notesMaster" Target="/ppt/notesMasters/notesMaster1.xml" Id="R31bedc0fdd404d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804249a80740be" /><Relationship Type="http://schemas.openxmlformats.org/officeDocument/2006/relationships/notesMaster" Target="/ppt/notesMasters/notesMaster1.xml" Id="R8238ef24fb6248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f316163231453a" /><Relationship Type="http://schemas.openxmlformats.org/officeDocument/2006/relationships/notesMaster" Target="/ppt/notesMasters/notesMaster1.xml" Id="Rbb556c03aed2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f27630b72e45d8" /><Relationship Type="http://schemas.openxmlformats.org/officeDocument/2006/relationships/notesMaster" Target="/ppt/notesMasters/notesMaster1.xml" Id="Rda578e14767e4a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707befb98a4075" /><Relationship Type="http://schemas.openxmlformats.org/officeDocument/2006/relationships/notesMaster" Target="/ppt/notesMasters/notesMaster1.xml" Id="Rbbe7dc22bede4c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4efa3359245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fa340bba624459" /><Relationship Type="http://schemas.openxmlformats.org/officeDocument/2006/relationships/slideLayout" Target="/ppt/slideLayouts/slideLayout2.xml" Id="R6ef788195000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788195000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20f93b3f046c8" /><Relationship Type="http://schemas.openxmlformats.org/officeDocument/2006/relationships/image" Target="/ppt/media/image.png" Id="R57ba744fb1db4b14" /><Relationship Type="http://schemas.openxmlformats.org/officeDocument/2006/relationships/notesSlide" Target="/ppt/notesSlides/notesSlide1.xml" Id="Rd92b30501837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efe4482c8e47f2" /><Relationship Type="http://schemas.openxmlformats.org/officeDocument/2006/relationships/image" Target="/ppt/media/image2.png" Id="Rfce2a0e1df3046f2" /><Relationship Type="http://schemas.openxmlformats.org/officeDocument/2006/relationships/notesSlide" Target="/ppt/notesSlides/notesSlide2.xml" Id="R0ed2c0303b5643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c963ffc473434b" /><Relationship Type="http://schemas.openxmlformats.org/officeDocument/2006/relationships/image" Target="/ppt/media/image3.png" Id="R9b8c9b6f463b42bf" /><Relationship Type="http://schemas.openxmlformats.org/officeDocument/2006/relationships/image" Target="/ppt/media/image4.png" Id="R806efa34ec75469a" /><Relationship Type="http://schemas.openxmlformats.org/officeDocument/2006/relationships/image" Target="/ppt/media/image5.png" Id="R9a671645448d4d70" /><Relationship Type="http://schemas.openxmlformats.org/officeDocument/2006/relationships/notesSlide" Target="/ppt/notesSlides/notesSlide3.xml" Id="Rf515bb9c457d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aae6ec067643cb" /><Relationship Type="http://schemas.openxmlformats.org/officeDocument/2006/relationships/image" Target="/ppt/media/image6.png" Id="Re65087c588644bd3" /><Relationship Type="http://schemas.openxmlformats.org/officeDocument/2006/relationships/notesSlide" Target="/ppt/notesSlides/notesSlide4.xml" Id="R40500d8f67104e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4d55f4d4a44b3" /><Relationship Type="http://schemas.openxmlformats.org/officeDocument/2006/relationships/image" Target="/ppt/media/image7.png" Id="R00c7d7b03239460e" /><Relationship Type="http://schemas.openxmlformats.org/officeDocument/2006/relationships/image" Target="/ppt/media/image8.png" Id="R740cc4a3aeb24010" /><Relationship Type="http://schemas.openxmlformats.org/officeDocument/2006/relationships/image" Target="/ppt/media/image9.png" Id="Ra359a669b5e642c4" /><Relationship Type="http://schemas.openxmlformats.org/officeDocument/2006/relationships/image" Target="/ppt/media/image10.png" Id="R2e8b5105ca694357" /><Relationship Type="http://schemas.openxmlformats.org/officeDocument/2006/relationships/image" Target="/ppt/media/image11.png" Id="R55eac2356e8a4b1f" /><Relationship Type="http://schemas.openxmlformats.org/officeDocument/2006/relationships/image" Target="/ppt/media/image12.png" Id="Rc7f5c15b993a4559" /><Relationship Type="http://schemas.openxmlformats.org/officeDocument/2006/relationships/notesSlide" Target="/ppt/notesSlides/notesSlide5.xml" Id="R582e0c8a5f4748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be40c074114892" /><Relationship Type="http://schemas.openxmlformats.org/officeDocument/2006/relationships/image" Target="/ppt/media/image13.png" Id="R4a75b554abea4b02" /><Relationship Type="http://schemas.openxmlformats.org/officeDocument/2006/relationships/notesSlide" Target="/ppt/notesSlides/notesSlide6.xml" Id="Raa67071e64154e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88b59ab27e4d97" /><Relationship Type="http://schemas.openxmlformats.org/officeDocument/2006/relationships/image" Target="/ppt/media/image14.png" Id="Rc6993c7c66bf4fc0" /><Relationship Type="http://schemas.openxmlformats.org/officeDocument/2006/relationships/notesSlide" Target="/ppt/notesSlides/notesSlide7.xml" Id="Rf045fc3e390444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149de10b249fc" /><Relationship Type="http://schemas.openxmlformats.org/officeDocument/2006/relationships/notesSlide" Target="/ppt/notesSlides/notesSlide8.xml" Id="R20b1b4e628db4b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53b1e5cf944867" /><Relationship Type="http://schemas.openxmlformats.org/officeDocument/2006/relationships/image" Target="/ppt/media/image15.png" Id="R923aa37d95294f0f" /><Relationship Type="http://schemas.openxmlformats.org/officeDocument/2006/relationships/notesSlide" Target="/ppt/notesSlides/notesSlide9.xml" Id="R7ca545b4fd5442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0751e4ff84236" /><Relationship Type="http://schemas.openxmlformats.org/officeDocument/2006/relationships/notesSlide" Target="/ppt/notesSlides/notesSlide10.xml" Id="Rb2adbb84d4b64b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a744fb1db4b1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veil">
            <a:extLst xmlns:a="http://schemas.openxmlformats.org/drawingml/2006/main">
              <a:ext uri="{FF2B5EF4-FFF2-40B4-BE49-F238E27FC236}">
                <a16:creationId xmlns:a16="http://schemas.microsoft.com/office/drawing/2014/main" id="{9984C7D9-0DB8-49AE-99A7-A0E7C149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10E">
              <a:alpha val="58000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AA1D9-F9F2-406F-9429-85444C60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000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2C5"/>
                </a:solidFill>
              </a:defRPr>
            </a:pPr>
            <a:r>
              <a:rPr sz="7800" b="1">
                <a:solidFill>
                  <a:srgbClr val="FFF2C5"/>
                </a:solidFill>
              </a:rPr>
              <a:t>Arcitecture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10A36-99EC-4CCA-8722-A38BCBD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6000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8E8"/>
                </a:solidFill>
              </a:defRPr>
            </a:pPr>
            <a:r>
              <a:rPr sz="4050" b="1">
                <a:solidFill>
                  <a:srgbClr val="FFF8E8"/>
                </a:solidFill>
              </a:rPr>
              <a:t>中国建筑录的探索修复之旅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AFDFF-3363-4BC9-91B4-5FA1ED5F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79"/>
          </a:solidFill>
          <a:ln xmlns:a="http://schemas.openxmlformats.org/drawingml/2006/main" w="0">
            <a:solidFill>
              <a:srgbClr val="F0C9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C6DBF-0FEF-483B-9CE1-3A92064A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67450"/>
            <a:ext cx="6000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0DEAF"/>
                </a:solidFill>
              </a:defRPr>
            </a:pPr>
            <a:r>
              <a:rPr sz="2400">
                <a:solidFill>
                  <a:srgbClr val="F0DEAF"/>
                </a:solidFill>
              </a:rPr>
              <a:t>用搜、打、撤的轻 Rogue 循环，让建筑知识从“被阅读”变成“被夺回”。</a:t>
            </a:r>
          </a:p>
        </p:txBody>
      </p:sp>
    </p:spTree>
    <p:extLst>
      <p:ext uri="{BB962C8B-B14F-4D97-AF65-F5344CB8AC3E}">
        <p14:creationId xmlns:p14="http://schemas.microsoft.com/office/powerpoint/2010/main" val="644331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E910ECB-1633-4D29-B1AE-4163D239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7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0B215E56-18BF-40EC-8356-521C41D8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23"/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2B9112C-2F63-4FDC-A6A6-DC450A7E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01 设计理念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8AD137-CCA6-4C77-9F7B-959E20D2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116014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8E8"/>
                </a:solidFill>
              </a:defRPr>
            </a:pPr>
            <a:r>
              <a:rPr sz="4350" b="1">
                <a:solidFill>
                  <a:srgbClr val="FFF8E8"/>
                </a:solidFill>
              </a:rPr>
              <a:t>把古建筑保护主题，转译成玩家亲手参与的修复任务</a:t>
            </a:r>
          </a:p>
        </p:txBody>
      </p:sp>
      <p:sp>
        <p:nvSpPr>
          <p:cNvPr id="5" name="bullet-dot">
            <a:extLst xmlns:a="http://schemas.openxmlformats.org/drawingml/2006/main">
              <a:ext uri="{FF2B5EF4-FFF2-40B4-BE49-F238E27FC236}">
                <a16:creationId xmlns:a16="http://schemas.microsoft.com/office/drawing/2014/main" id="{7BF423CC-7B05-48ED-ADDF-6F0E256B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3B"/>
          </a:solidFill>
        </p:spPr>
      </p:sp>
      <p:sp>
        <p:nvSpPr>
          <p:cNvPr id="6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665E9FF4-D076-465B-BAC7-123E0C9C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805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8E8"/>
                </a:solidFill>
              </a:defRPr>
            </a:pPr>
            <a:r>
              <a:rPr sz="2250" b="1">
                <a:solidFill>
                  <a:srgbClr val="FFF8E8"/>
                </a:solidFill>
              </a:rPr>
              <a:t>主题</a:t>
            </a:r>
          </a:p>
        </p:txBody>
      </p:sp>
      <p:sp>
        <p:nvSpPr>
          <p:cNvPr id="7" name="bullet-body">
            <a:extLst xmlns:a="http://schemas.openxmlformats.org/drawingml/2006/main">
              <a:ext uri="{FF2B5EF4-FFF2-40B4-BE49-F238E27FC236}">
                <a16:creationId xmlns:a16="http://schemas.microsoft.com/office/drawing/2014/main" id="{DD9B50B4-1E27-42D2-BB4E-F3AAD5B9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保护与理解中国古建筑智慧，不停留在百科式介绍。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8D353EC4-9847-4E6E-920D-4DC24181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D76"/>
          </a:solidFill>
        </p:spPr>
      </p:sp>
      <p:sp>
        <p:nvSpPr>
          <p:cNvPr id="9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5044147A-910A-4552-A25F-A57B9225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805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8E8"/>
                </a:solidFill>
              </a:defRPr>
            </a:pPr>
            <a:r>
              <a:rPr sz="2250" b="1">
                <a:solidFill>
                  <a:srgbClr val="FFF8E8"/>
                </a:solidFill>
              </a:rPr>
              <a:t>身份</a:t>
            </a:r>
          </a:p>
        </p:txBody>
      </p:sp>
      <p:sp>
        <p:nvSpPr>
          <p:cNvPr id="10" name="bullet-body">
            <a:extLst xmlns:a="http://schemas.openxmlformats.org/drawingml/2006/main">
              <a:ext uri="{FF2B5EF4-FFF2-40B4-BE49-F238E27FC236}">
                <a16:creationId xmlns:a16="http://schemas.microsoft.com/office/drawing/2014/main" id="{27CA5FB4-DEBF-4A1B-830C-3B575B5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8650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玩家是误入《中国建筑录》的学生，天然贴近课程与校园语境。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0AA56E21-E73C-4F4C-A371-60390E8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3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4A32"/>
          </a:solidFill>
        </p:spPr>
      </p:sp>
      <p:sp>
        <p:nvSpPr>
          <p:cNvPr id="12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9D67C3DE-1A1E-4FBF-AC98-2CFC1E1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838950"/>
            <a:ext cx="805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8E8"/>
                </a:solidFill>
              </a:defRPr>
            </a:pPr>
            <a:r>
              <a:rPr sz="2250" b="1">
                <a:solidFill>
                  <a:srgbClr val="FFF8E8"/>
                </a:solidFill>
              </a:rPr>
              <a:t>转译</a:t>
            </a:r>
          </a:p>
        </p:txBody>
      </p:sp>
      <p:sp>
        <p:nvSpPr>
          <p:cNvPr id="13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3E1CBFD-DF5A-4E0B-90A2-C1AD200D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5805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探索、收集、修复和解锁共同构成“知识恢复”的行动链。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F5E3D-815E-4BF2-82C8-9AA1325C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848" y="3059430"/>
            <a:ext cx="7582852" cy="6294120"/>
          </a:xfrm>
          <a:prstGeom xmlns:a="http://schemas.openxmlformats.org/drawingml/2006/main" prst="roundRect">
            <a:avLst>
              <a:gd name="adj" fmla="val 3935"/>
            </a:avLst>
          </a:prstGeom>
          <a:solidFill xmlns:a="http://schemas.openxmlformats.org/drawingml/2006/main">
            <a:srgbClr val="23362C"/>
          </a:solidFill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2a0e1df3046f2"/>
          <a:stretch xmlns:a="http://schemas.openxmlformats.org/drawingml/2006/main"/>
        </p:blipFill>
        <p:spPr>
          <a:xfrm xmlns:a="http://schemas.openxmlformats.org/drawingml/2006/main">
            <a:off x="10114598" y="4232910"/>
            <a:ext cx="7011352" cy="3238500"/>
          </a:xfrm>
          <a:prstGeom xmlns:a="http://schemas.openxmlformats.org/drawingml/2006/main" prst="rect">
            <a:avLst/>
          </a:prstGeom>
        </p:spPr>
      </p:pic>
      <p:sp>
        <p:nvSpPr>
          <p:cNvPr id="16" name="chip-文明记忆">
            <a:extLst xmlns:a="http://schemas.openxmlformats.org/drawingml/2006/main">
              <a:ext uri="{FF2B5EF4-FFF2-40B4-BE49-F238E27FC236}">
                <a16:creationId xmlns:a16="http://schemas.microsoft.com/office/drawing/2014/main" id="{1CDEEBC4-1945-41B6-AEA9-30ED2747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299" y="7700010"/>
            <a:ext cx="1257300" cy="48006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2A5F58"/>
          </a:solidFill>
        </p:spPr>
      </p:sp>
      <p:sp>
        <p:nvSpPr>
          <p:cNvPr id="17" name="chip-text">
            <a:extLst xmlns:a="http://schemas.openxmlformats.org/drawingml/2006/main">
              <a:ext uri="{FF2B5EF4-FFF2-40B4-BE49-F238E27FC236}">
                <a16:creationId xmlns:a16="http://schemas.microsoft.com/office/drawing/2014/main" id="{2299ACC6-A757-4F14-A996-7F0DCC01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810500"/>
            <a:ext cx="83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8E8"/>
                </a:solidFill>
              </a:defRPr>
            </a:pPr>
            <a:r>
              <a:rPr sz="1650" b="1">
                <a:solidFill>
                  <a:srgbClr val="FFF8E8"/>
                </a:solidFill>
              </a:rPr>
              <a:t>文明记忆</a:t>
            </a:r>
          </a:p>
        </p:txBody>
      </p:sp>
      <p:sp>
        <p:nvSpPr>
          <p:cNvPr id="18" name="chip-建筑修复">
            <a:extLst xmlns:a="http://schemas.openxmlformats.org/drawingml/2006/main">
              <a:ext uri="{FF2B5EF4-FFF2-40B4-BE49-F238E27FC236}">
                <a16:creationId xmlns:a16="http://schemas.microsoft.com/office/drawing/2014/main" id="{DDE1A078-CA69-46B0-8BB2-EAC30DA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999" y="7700010"/>
            <a:ext cx="1257300" cy="48006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D7A43B"/>
          </a:solidFill>
        </p:spPr>
      </p:sp>
      <p:sp>
        <p:nvSpPr>
          <p:cNvPr id="19" name="chip-text">
            <a:extLst xmlns:a="http://schemas.openxmlformats.org/drawingml/2006/main">
              <a:ext uri="{FF2B5EF4-FFF2-40B4-BE49-F238E27FC236}">
                <a16:creationId xmlns:a16="http://schemas.microsoft.com/office/drawing/2014/main" id="{CB790396-3707-432D-9C1B-60BAC7F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10500"/>
            <a:ext cx="83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8E8"/>
                </a:solidFill>
              </a:defRPr>
            </a:pPr>
            <a:r>
              <a:rPr sz="1650" b="1">
                <a:solidFill>
                  <a:srgbClr val="FFF8E8"/>
                </a:solidFill>
              </a:rPr>
              <a:t>建筑修复</a:t>
            </a:r>
          </a:p>
        </p:txBody>
      </p:sp>
      <p:sp>
        <p:nvSpPr>
          <p:cNvPr id="20" name="chip-知识夺回">
            <a:extLst xmlns:a="http://schemas.openxmlformats.org/drawingml/2006/main">
              <a:ext uri="{FF2B5EF4-FFF2-40B4-BE49-F238E27FC236}">
                <a16:creationId xmlns:a16="http://schemas.microsoft.com/office/drawing/2014/main" id="{90E7C26F-6111-4F56-A6F6-85806F9B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1699" y="7700010"/>
            <a:ext cx="1257300" cy="48006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A34A32"/>
          </a:solidFill>
        </p:spPr>
      </p:sp>
      <p:sp>
        <p:nvSpPr>
          <p:cNvPr id="21" name="chip-text">
            <a:extLst xmlns:a="http://schemas.openxmlformats.org/drawingml/2006/main">
              <a:ext uri="{FF2B5EF4-FFF2-40B4-BE49-F238E27FC236}">
                <a16:creationId xmlns:a16="http://schemas.microsoft.com/office/drawing/2014/main" id="{1A989AB4-E6B8-4205-987B-AE15CBBB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810500"/>
            <a:ext cx="83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8E8"/>
                </a:solidFill>
              </a:defRPr>
            </a:pPr>
            <a:r>
              <a:rPr sz="1650" b="1">
                <a:solidFill>
                  <a:srgbClr val="FFF8E8"/>
                </a:solidFill>
              </a:rPr>
              <a:t>知识夺回</a:t>
            </a:r>
          </a:p>
        </p:txBody>
      </p:sp>
      <p:sp>
        <p:nvSpPr>
          <p:cNvPr id="22" name="chip-参与式学习">
            <a:extLst xmlns:a="http://schemas.openxmlformats.org/drawingml/2006/main">
              <a:ext uri="{FF2B5EF4-FFF2-40B4-BE49-F238E27FC236}">
                <a16:creationId xmlns:a16="http://schemas.microsoft.com/office/drawing/2014/main" id="{FAF0FA1C-28DC-48D3-8163-872E534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399" y="7700010"/>
            <a:ext cx="1466850" cy="48006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F8D76"/>
          </a:solidFill>
        </p:spPr>
      </p:sp>
      <p:sp>
        <p:nvSpPr>
          <p:cNvPr id="23" name="chip-text">
            <a:extLst xmlns:a="http://schemas.openxmlformats.org/drawingml/2006/main">
              <a:ext uri="{FF2B5EF4-FFF2-40B4-BE49-F238E27FC236}">
                <a16:creationId xmlns:a16="http://schemas.microsoft.com/office/drawing/2014/main" id="{47D2504A-5A8C-4F63-9916-194515C6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78105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8E8"/>
                </a:solidFill>
              </a:defRPr>
            </a:pPr>
            <a:r>
              <a:rPr sz="1650" b="1">
                <a:solidFill>
                  <a:srgbClr val="FFF8E8"/>
                </a:solidFill>
              </a:rPr>
              <a:t>参与式学习</a:t>
            </a:r>
          </a:p>
        </p:txBody>
      </p:sp>
    </p:spTree>
    <p:extLst>
      <p:ext uri="{BB962C8B-B14F-4D97-AF65-F5344CB8AC3E}">
        <p14:creationId xmlns:p14="http://schemas.microsoft.com/office/powerpoint/2010/main" val="21011075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D5A9DA4-6A9B-43BB-A577-12DCEAED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7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EA58CA35-8280-4E21-8F6D-57D06B7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23"/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ED02FD1-979F-444B-BB2A-7462CFE8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02 寓教于乐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948ACA-31D0-407E-ABFC-A7EE9DE7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9715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8E8"/>
                </a:solidFill>
              </a:defRPr>
            </a:pPr>
            <a:r>
              <a:rPr sz="4500" b="1">
                <a:solidFill>
                  <a:srgbClr val="FFF8E8"/>
                </a:solidFill>
              </a:rPr>
              <a:t>先让玩家感到有用，再让玩家愿意理解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3AF744-23E0-4D65-AE6C-971B3F7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6934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6D7B5"/>
                </a:solidFill>
              </a:defRPr>
            </a:pPr>
            <a:r>
              <a:rPr sz="2100">
                <a:solidFill>
                  <a:srgbClr val="E6D7B5"/>
                </a:solidFill>
              </a:rPr>
              <a:t>知识不是被塞进文本框，而是逐步进入战斗、图鉴和问答。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656E7-60FD-4D2A-8257-E70B224D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24400" cy="49530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23229"/>
          </a:solidFill>
        </p:spPr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0ABB100D-2B58-4D85-992A-7E5E2A53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54152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D7A43B"/>
          </a:solidFill>
        </p:spPr>
      </p:sp>
      <p:sp>
        <p:nvSpPr>
          <p:cNvPr id="8" name="label-text">
            <a:extLst xmlns:a="http://schemas.openxmlformats.org/drawingml/2006/main">
              <a:ext uri="{FF2B5EF4-FFF2-40B4-BE49-F238E27FC236}">
                <a16:creationId xmlns:a16="http://schemas.microsoft.com/office/drawing/2014/main" id="{169525CD-16BF-4DF1-9883-CBC26D1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11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69FE8-CBFD-43A5-8460-55EC7EE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358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8E8"/>
                </a:solidFill>
              </a:defRPr>
            </a:pPr>
            <a:r>
              <a:rPr sz="2100" b="1">
                <a:solidFill>
                  <a:srgbClr val="FFF8E8"/>
                </a:solidFill>
              </a:rPr>
              <a:t>探索中捡到结构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c9b6f463b42bf"/>
          <a:stretch xmlns:a="http://schemas.openxmlformats.org/drawingml/2006/main"/>
        </p:blipFill>
        <p:spPr>
          <a:xfrm xmlns:a="http://schemas.openxmlformats.org/drawingml/2006/main">
            <a:off x="1143000" y="4259580"/>
            <a:ext cx="4191000" cy="2476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14FD6-52C8-4888-AB1A-A73BF0E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5325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先感知结构带来的战斗变化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29FFF-1546-49F4-A677-5BEA290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67350"/>
            <a:ext cx="533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0C979"/>
                </a:solidFill>
              </a:defRPr>
            </a:pPr>
            <a:r>
              <a:rPr sz="4500" b="1">
                <a:solidFill>
                  <a:srgbClr val="F0C97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17D46-EA37-40A7-975F-D8B5A3D7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724400" cy="49530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23229"/>
          </a:solidFill>
        </p:spPr>
      </p:sp>
      <p:sp>
        <p:nvSpPr>
          <p:cNvPr id="14" name="label-2">
            <a:extLst xmlns:a="http://schemas.openxmlformats.org/drawingml/2006/main">
              <a:ext uri="{FF2B5EF4-FFF2-40B4-BE49-F238E27FC236}">
                <a16:creationId xmlns:a16="http://schemas.microsoft.com/office/drawing/2014/main" id="{1690E3A8-8F2C-484E-A5D7-1DA43B3C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454152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4F8D76"/>
          </a:solidFill>
        </p:spPr>
      </p:sp>
      <p:sp>
        <p:nvSpPr>
          <p:cNvPr id="15" name="label-text">
            <a:extLst xmlns:a="http://schemas.openxmlformats.org/drawingml/2006/main">
              <a:ext uri="{FF2B5EF4-FFF2-40B4-BE49-F238E27FC236}">
                <a16:creationId xmlns:a16="http://schemas.microsoft.com/office/drawing/2014/main" id="{6C78067C-75BF-4E74-B0EA-645D1FF4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11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E6860-B3B1-4863-BA03-228C303E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58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8E8"/>
                </a:solidFill>
              </a:defRPr>
            </a:pPr>
            <a:r>
              <a:rPr sz="2100" b="1">
                <a:solidFill>
                  <a:srgbClr val="FFF8E8"/>
                </a:solidFill>
              </a:rPr>
              <a:t>图鉴中解锁建筑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efa34ec75469a"/>
          <a:stretch xmlns:a="http://schemas.openxmlformats.org/drawingml/2006/main"/>
        </p:blipFill>
        <p:spPr>
          <a:xfrm xmlns:a="http://schemas.openxmlformats.org/drawingml/2006/main">
            <a:off x="7048500" y="4259580"/>
            <a:ext cx="4191000" cy="2476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80C2D-3CAE-4DE7-BEA8-4B078A2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95325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再理解建筑背景与文化含义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B85E9-BB44-4530-86CE-25BB10A9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467350"/>
            <a:ext cx="533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0C979"/>
                </a:solidFill>
              </a:defRPr>
            </a:pPr>
            <a:r>
              <a:rPr sz="4500" b="1">
                <a:solidFill>
                  <a:srgbClr val="F0C97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529BD-B6B5-4A86-BB74-E3932853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333750"/>
            <a:ext cx="4724400" cy="49530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23229"/>
          </a:solidFill>
        </p:spPr>
      </p:sp>
      <p:sp>
        <p:nvSpPr>
          <p:cNvPr id="21" name="label-3">
            <a:extLst xmlns:a="http://schemas.openxmlformats.org/drawingml/2006/main">
              <a:ext uri="{FF2B5EF4-FFF2-40B4-BE49-F238E27FC236}">
                <a16:creationId xmlns:a16="http://schemas.microsoft.com/office/drawing/2014/main" id="{EE748527-7539-456C-827D-ADABA619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0"/>
            <a:ext cx="454152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4C8EA8"/>
          </a:solidFill>
        </p:spPr>
      </p:sp>
      <p:sp>
        <p:nvSpPr>
          <p:cNvPr id="22" name="label-text">
            <a:extLst xmlns:a="http://schemas.openxmlformats.org/drawingml/2006/main">
              <a:ext uri="{FF2B5EF4-FFF2-40B4-BE49-F238E27FC236}">
                <a16:creationId xmlns:a16="http://schemas.microsoft.com/office/drawing/2014/main" id="{6A127645-2293-488D-ACD6-ADB9A73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714750"/>
            <a:ext cx="11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74BE8-9837-4023-9169-A6F7F0F8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676650"/>
            <a:ext cx="358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8E8"/>
                </a:solidFill>
              </a:defRPr>
            </a:pPr>
            <a:r>
              <a:rPr sz="2100" b="1">
                <a:solidFill>
                  <a:srgbClr val="FFF8E8"/>
                </a:solidFill>
              </a:rPr>
              <a:t>通关后询问河狸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71645448d4d70"/>
          <a:stretch xmlns:a="http://schemas.openxmlformats.org/drawingml/2006/main"/>
        </p:blipFill>
        <p:spPr>
          <a:xfrm xmlns:a="http://schemas.openxmlformats.org/drawingml/2006/main">
            <a:off x="12954000" y="4259580"/>
            <a:ext cx="4191000" cy="24765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2E938-7008-48F2-8AC9-37ED25D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95325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最后用简短问答补充知识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6BA57-E9D9-4E00-A755-D2A21734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24950"/>
            <a:ext cx="16535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E6A6"/>
                </a:solidFill>
              </a:defRPr>
            </a:pPr>
            <a:r>
              <a:rPr sz="3150" b="1">
                <a:solidFill>
                  <a:srgbClr val="FFE6A6"/>
                </a:solidFill>
              </a:rPr>
              <a:t>学习链路：先爽感，再好奇，后理解。</a:t>
            </a:r>
          </a:p>
        </p:txBody>
      </p:sp>
    </p:spTree>
    <p:extLst>
      <p:ext uri="{BB962C8B-B14F-4D97-AF65-F5344CB8AC3E}">
        <p14:creationId xmlns:p14="http://schemas.microsoft.com/office/powerpoint/2010/main" val="9292868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087c588644bd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E85C2-BE66-4788-8A9C-F1FCF35B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0D">
              <a:alpha val="42000"/>
            </a:srgbClr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0AE2D84-E3A0-4EBF-B4AB-83B1C57B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03 核心玩法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B610BB-1651-4849-81F1-D7A30A78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3000"/>
            <a:ext cx="10496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8E8"/>
                </a:solidFill>
              </a:defRPr>
            </a:pPr>
            <a:r>
              <a:rPr sz="4350" b="1">
                <a:solidFill>
                  <a:srgbClr val="FFF8E8"/>
                </a:solidFill>
              </a:rPr>
              <a:t>搜、打、撤：把知识恢复做成一轮完整冒险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F0CA9B-5BF2-4967-B23D-CE34F160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8267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6D7B5"/>
                </a:solidFill>
              </a:defRPr>
            </a:pPr>
            <a:r>
              <a:rPr sz="2100">
                <a:solidFill>
                  <a:srgbClr val="E6D7B5"/>
                </a:solidFill>
              </a:rPr>
              <a:t>基地出发，限时探索，战斗收集，撤回提交，修复建筑，开放下一关。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2D7C0-03F5-48A1-9A7E-38052763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0"/>
            <a:ext cx="35052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31F1A">
              <a:alpha val="88000"/>
            </a:srgbClr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E26E8-18B4-48A3-9BF0-7A527ED7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95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7A43B"/>
                </a:solidFill>
              </a:defRPr>
            </a:pPr>
            <a:r>
              <a:rPr sz="4350" b="1">
                <a:solidFill>
                  <a:srgbClr val="D7A43B"/>
                </a:solidFill>
              </a:rPr>
              <a:t>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C130D-CAFB-4DBE-AE3C-E708DA9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648700"/>
            <a:ext cx="304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进入探索场景</a:t>
            </a:r>
          </a:p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收集智慧结晶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C109D-AC20-4B98-873F-8C6F159C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086850"/>
            <a:ext cx="419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8E8"/>
                </a:solidFill>
              </a:defRPr>
            </a:pPr>
            <a:r>
              <a:rPr sz="3450" b="1">
                <a:solidFill>
                  <a:srgbClr val="FFF8E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E4AB9-1D1F-4B98-B143-7A9A2B86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429500"/>
            <a:ext cx="35052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31F1A">
              <a:alpha val="88000"/>
            </a:srgbClr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2F371-1DF0-4060-A25B-691549F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8295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A34A32"/>
                </a:solidFill>
              </a:defRPr>
            </a:pPr>
            <a:r>
              <a:rPr sz="4350" b="1">
                <a:solidFill>
                  <a:srgbClr val="A34A32"/>
                </a:solidFill>
              </a:rPr>
              <a:t>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A7536-E13C-4083-AB14-4CB0492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648700"/>
            <a:ext cx="304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墨笔应对灾害</a:t>
            </a:r>
          </a:p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结构改变攻击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A321E-6CAB-40C4-8327-B8288C29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9086850"/>
            <a:ext cx="419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8E8"/>
                </a:solidFill>
              </a:defRPr>
            </a:pPr>
            <a:r>
              <a:rPr sz="3450" b="1">
                <a:solidFill>
                  <a:srgbClr val="FFF8E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7F128-5BD7-4EAD-ACDB-AA88771F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429500"/>
            <a:ext cx="35052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31F1A">
              <a:alpha val="88000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6FCDF-C0E6-4A68-8D77-0EBC5961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295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4C8EA8"/>
                </a:solidFill>
              </a:defRPr>
            </a:pPr>
            <a:r>
              <a:rPr sz="4350" b="1">
                <a:solidFill>
                  <a:srgbClr val="4C8EA8"/>
                </a:solidFill>
              </a:rPr>
              <a:t>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E2CEB-0450-49F7-93F7-B5FBE09D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648700"/>
            <a:ext cx="304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风险升高前</a:t>
            </a:r>
          </a:p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回到基地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E756F-1447-42C7-9373-02B17A3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9086850"/>
            <a:ext cx="419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8E8"/>
                </a:solidFill>
              </a:defRPr>
            </a:pPr>
            <a:r>
              <a:rPr sz="3450" b="1">
                <a:solidFill>
                  <a:srgbClr val="FFF8E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4ECC8-1E5A-43CC-AE64-98283BC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429500"/>
            <a:ext cx="35052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31F1A">
              <a:alpha val="8800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932C9-CDB9-49D3-B76F-038936AF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8295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4F8D76"/>
                </a:solidFill>
              </a:defRPr>
            </a:pPr>
            <a:r>
              <a:rPr sz="4350" b="1">
                <a:solidFill>
                  <a:srgbClr val="4F8D76"/>
                </a:solidFill>
              </a:rPr>
              <a:t>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85FA0-65CB-4307-8C12-1CC2437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648700"/>
            <a:ext cx="304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提交收集物</a:t>
            </a:r>
          </a:p>
          <a:p xmlns:a="http://schemas.openxmlformats.org/drawingml/2006/main">
            <a:pPr>
              <a:defRPr sz="1875">
                <a:solidFill>
                  <a:srgbClr val="F7E8C2"/>
                </a:solidFill>
              </a:defRPr>
            </a:pPr>
            <a:r>
              <a:rPr sz="1875">
                <a:solidFill>
                  <a:srgbClr val="F7E8C2"/>
                </a:solidFill>
              </a:rPr>
              <a:t>修复建筑录</a:t>
            </a:r>
          </a:p>
        </p:txBody>
      </p:sp>
    </p:spTree>
    <p:extLst>
      <p:ext uri="{BB962C8B-B14F-4D97-AF65-F5344CB8AC3E}">
        <p14:creationId xmlns:p14="http://schemas.microsoft.com/office/powerpoint/2010/main" val="20484094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0B221BD-AAC0-49E3-BA97-D5670C9C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7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4222CEC6-CB34-4876-A9E4-474FC3FF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23"/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FB94F96-59D8-4CC4-8BD2-74B333F7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04 轻 Rogue 策略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7D3CCB-B4CA-4E17-AA06-E7DF40DB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8E8"/>
                </a:solidFill>
              </a:defRPr>
            </a:pPr>
            <a:r>
              <a:rPr sz="4350" b="1">
                <a:solidFill>
                  <a:srgbClr val="FFF8E8"/>
                </a:solidFill>
              </a:rPr>
              <a:t>结构不是百科词条，而是玩家手里的构筑选择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907D7-F088-4198-9CDF-2BD0DA55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1240"/>
            <a:ext cx="3198019" cy="3469005"/>
          </a:xfrm>
          <a:prstGeom xmlns:a="http://schemas.openxmlformats.org/drawingml/2006/main" prst="roundRect">
            <a:avLst>
              <a:gd name="adj" fmla="val 6552"/>
            </a:avLst>
          </a:prstGeom>
          <a:solidFill xmlns:a="http://schemas.openxmlformats.org/drawingml/2006/main">
            <a:srgbClr val="24362D"/>
          </a:solidFill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7d7b03239460e"/>
          <a:stretch xmlns:a="http://schemas.openxmlformats.org/drawingml/2006/main"/>
        </p:blipFill>
        <p:spPr>
          <a:xfrm xmlns:a="http://schemas.openxmlformats.org/drawingml/2006/main">
            <a:off x="1085850" y="2921318"/>
            <a:ext cx="27813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8937E-BBA0-4B80-8A79-5FBC7559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7A43B"/>
                </a:solidFill>
              </a:defRPr>
            </a:pPr>
            <a:r>
              <a:rPr sz="2175" b="1">
                <a:solidFill>
                  <a:srgbClr val="D7A43B"/>
                </a:solidFill>
              </a:rPr>
              <a:t>榫卯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3FA4F-DDA7-47F9-8D4B-EF2B6FD1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3D6B5"/>
                </a:solidFill>
              </a:defRPr>
            </a:pPr>
            <a:r>
              <a:rPr sz="1575">
                <a:solidFill>
                  <a:srgbClr val="E3D6B5"/>
                </a:solidFill>
              </a:rPr>
              <a:t>扇形发射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5FB20-50C5-411C-A4AE-98B4800C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869" y="2301240"/>
            <a:ext cx="3198019" cy="3469005"/>
          </a:xfrm>
          <a:prstGeom xmlns:a="http://schemas.openxmlformats.org/drawingml/2006/main" prst="roundRect">
            <a:avLst>
              <a:gd name="adj" fmla="val 6552"/>
            </a:avLst>
          </a:prstGeom>
          <a:solidFill xmlns:a="http://schemas.openxmlformats.org/drawingml/2006/main">
            <a:srgbClr val="24362D"/>
          </a:solidFill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cc4a3aeb24010"/>
          <a:stretch xmlns:a="http://schemas.openxmlformats.org/drawingml/2006/main"/>
        </p:blipFill>
        <p:spPr>
          <a:xfrm xmlns:a="http://schemas.openxmlformats.org/drawingml/2006/main">
            <a:off x="4495800" y="2921318"/>
            <a:ext cx="2781300" cy="1428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4619B-B1AB-4D59-A7C6-2C170AC3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4A32"/>
                </a:solidFill>
              </a:defRPr>
            </a:pPr>
            <a:r>
              <a:rPr sz="2175" b="1">
                <a:solidFill>
                  <a:srgbClr val="A34A32"/>
                </a:solidFill>
              </a:rPr>
              <a:t>斗拱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8953E-DA99-4615-99CD-A78FC48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3D6B5"/>
                </a:solidFill>
              </a:defRPr>
            </a:pPr>
            <a:r>
              <a:rPr sz="1575">
                <a:solidFill>
                  <a:srgbClr val="E3D6B5"/>
                </a:solidFill>
              </a:rPr>
              <a:t>追加波次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81A00-42BB-4416-B596-19A23F00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38" y="2301240"/>
            <a:ext cx="3198019" cy="3469005"/>
          </a:xfrm>
          <a:prstGeom xmlns:a="http://schemas.openxmlformats.org/drawingml/2006/main" prst="roundRect">
            <a:avLst>
              <a:gd name="adj" fmla="val 6552"/>
            </a:avLst>
          </a:prstGeom>
          <a:solidFill xmlns:a="http://schemas.openxmlformats.org/drawingml/2006/main">
            <a:srgbClr val="24362D"/>
          </a:solidFill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9a669b5e642c4"/>
          <a:stretch xmlns:a="http://schemas.openxmlformats.org/drawingml/2006/main"/>
        </p:blipFill>
        <p:spPr>
          <a:xfrm xmlns:a="http://schemas.openxmlformats.org/drawingml/2006/main">
            <a:off x="7905750" y="2921318"/>
            <a:ext cx="2781300" cy="1428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24DF1-74BE-4395-B0D1-5B2DD21F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F8D76"/>
                </a:solidFill>
              </a:defRPr>
            </a:pPr>
            <a:r>
              <a:rPr sz="2175" b="1">
                <a:solidFill>
                  <a:srgbClr val="4F8D76"/>
                </a:solidFill>
              </a:rPr>
              <a:t>梁架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FFEB8-CBC4-4E60-B242-D30F867C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3D6B5"/>
                </a:solidFill>
              </a:defRPr>
            </a:pPr>
            <a:r>
              <a:rPr sz="1575">
                <a:solidFill>
                  <a:srgbClr val="E3D6B5"/>
                </a:solidFill>
              </a:rPr>
              <a:t>提升攻速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A6A88-82D4-409F-9633-F721E3E1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9795"/>
            <a:ext cx="3198019" cy="3469005"/>
          </a:xfrm>
          <a:prstGeom xmlns:a="http://schemas.openxmlformats.org/drawingml/2006/main" prst="roundRect">
            <a:avLst>
              <a:gd name="adj" fmla="val 6552"/>
            </a:avLst>
          </a:prstGeom>
          <a:solidFill xmlns:a="http://schemas.openxmlformats.org/drawingml/2006/main">
            <a:srgbClr val="24362D"/>
          </a:solidFill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b5105ca694357"/>
          <a:stretch xmlns:a="http://schemas.openxmlformats.org/drawingml/2006/main"/>
        </p:blipFill>
        <p:spPr>
          <a:xfrm xmlns:a="http://schemas.openxmlformats.org/drawingml/2006/main">
            <a:off x="1085850" y="6599873"/>
            <a:ext cx="27813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412D6-D6CD-462D-8E3C-860C74C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134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C8EA8"/>
                </a:solidFill>
              </a:defRPr>
            </a:pPr>
            <a:r>
              <a:rPr sz="2175" b="1">
                <a:solidFill>
                  <a:srgbClr val="4C8EA8"/>
                </a:solidFill>
              </a:rPr>
              <a:t>夯土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CC866-0AE9-436B-9EAF-DA3B262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59155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3D6B5"/>
                </a:solidFill>
              </a:defRPr>
            </a:pPr>
            <a:r>
              <a:rPr sz="1575">
                <a:solidFill>
                  <a:srgbClr val="E3D6B5"/>
                </a:solidFill>
              </a:rPr>
              <a:t>射程与速度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03AC-2461-4B1D-9439-C413C55E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869" y="5979795"/>
            <a:ext cx="3198019" cy="3469005"/>
          </a:xfrm>
          <a:prstGeom xmlns:a="http://schemas.openxmlformats.org/drawingml/2006/main" prst="roundRect">
            <a:avLst>
              <a:gd name="adj" fmla="val 6552"/>
            </a:avLst>
          </a:prstGeom>
          <a:solidFill xmlns:a="http://schemas.openxmlformats.org/drawingml/2006/main">
            <a:srgbClr val="24362D"/>
          </a:solidFill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ac2356e8a4b1f"/>
          <a:stretch xmlns:a="http://schemas.openxmlformats.org/drawingml/2006/main"/>
        </p:blipFill>
        <p:spPr>
          <a:xfrm xmlns:a="http://schemas.openxmlformats.org/drawingml/2006/main">
            <a:off x="4495800" y="6599873"/>
            <a:ext cx="278130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6D4E2-DB0D-43E8-A898-985F597F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8134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7A43B"/>
                </a:solidFill>
              </a:defRPr>
            </a:pPr>
            <a:r>
              <a:rPr sz="2175" b="1">
                <a:solidFill>
                  <a:srgbClr val="D7A43B"/>
                </a:solidFill>
              </a:rPr>
              <a:t>瓦片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309FF-AB58-45B9-A849-34DA218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859155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3D6B5"/>
                </a:solidFill>
              </a:defRPr>
            </a:pPr>
            <a:r>
              <a:rPr sz="1575">
                <a:solidFill>
                  <a:srgbClr val="E3D6B5"/>
                </a:solidFill>
              </a:rPr>
              <a:t>体积与消耗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BCCB7-10A2-4CAF-9C5D-152ABF6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38" y="5979795"/>
            <a:ext cx="3198019" cy="3469005"/>
          </a:xfrm>
          <a:prstGeom xmlns:a="http://schemas.openxmlformats.org/drawingml/2006/main" prst="roundRect">
            <a:avLst>
              <a:gd name="adj" fmla="val 6552"/>
            </a:avLst>
          </a:prstGeom>
          <a:solidFill xmlns:a="http://schemas.openxmlformats.org/drawingml/2006/main">
            <a:srgbClr val="24362D"/>
          </a:solidFill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5c15b993a4559"/>
          <a:stretch xmlns:a="http://schemas.openxmlformats.org/drawingml/2006/main"/>
        </p:blipFill>
        <p:spPr>
          <a:xfrm xmlns:a="http://schemas.openxmlformats.org/drawingml/2006/main">
            <a:off x="7905750" y="6599873"/>
            <a:ext cx="2781300" cy="14287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6C3E0-7374-4368-9063-8BCBF407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134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A5F58"/>
                </a:solidFill>
              </a:defRPr>
            </a:pPr>
            <a:r>
              <a:rPr sz="2175" b="1">
                <a:solidFill>
                  <a:srgbClr val="2A5F58"/>
                </a:solidFill>
              </a:rPr>
              <a:t>专用结构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E8183-4447-4FF7-B7C4-B54F2D7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9155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3D6B5"/>
                </a:solidFill>
              </a:defRPr>
            </a:pPr>
            <a:r>
              <a:rPr sz="1575">
                <a:solidFill>
                  <a:srgbClr val="E3D6B5"/>
                </a:solidFill>
              </a:rPr>
              <a:t>长期成长 / 解锁建筑</a:t>
            </a:r>
          </a:p>
        </p:txBody>
      </p:sp>
      <p:sp>
        <p:nvSpPr>
          <p:cNvPr id="29" name="bullet-dot">
            <a:extLst xmlns:a="http://schemas.openxmlformats.org/drawingml/2006/main">
              <a:ext uri="{FF2B5EF4-FFF2-40B4-BE49-F238E27FC236}">
                <a16:creationId xmlns:a16="http://schemas.microsoft.com/office/drawing/2014/main" id="{3F799F25-6950-4C09-832D-44A6D93F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45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3B"/>
          </a:solidFill>
        </p:spPr>
      </p:sp>
      <p:sp>
        <p:nvSpPr>
          <p:cNvPr id="30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DD414171-7EA8-4182-82A4-B5C418AF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45770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8E8"/>
                </a:solidFill>
              </a:defRPr>
            </a:pPr>
            <a:r>
              <a:rPr sz="2250" b="1">
                <a:solidFill>
                  <a:srgbClr val="FFF8E8"/>
                </a:solidFill>
              </a:rPr>
              <a:t>临时变化</a:t>
            </a:r>
          </a:p>
        </p:txBody>
      </p:sp>
      <p:sp>
        <p:nvSpPr>
          <p:cNvPr id="31" name="bullet-body">
            <a:extLst xmlns:a="http://schemas.openxmlformats.org/drawingml/2006/main">
              <a:ext uri="{FF2B5EF4-FFF2-40B4-BE49-F238E27FC236}">
                <a16:creationId xmlns:a16="http://schemas.microsoft.com/office/drawing/2014/main" id="{D8354411-44F1-44DA-9EC2-B2A2E115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876800"/>
            <a:ext cx="5676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通用结构进入背包后立即改变墨笔攻击，离开背包后失效。</a:t>
            </a:r>
          </a:p>
        </p:txBody>
      </p:sp>
      <p:sp>
        <p:nvSpPr>
          <p:cNvPr id="32" name="bullet-dot">
            <a:extLst xmlns:a="http://schemas.openxmlformats.org/drawingml/2006/main">
              <a:ext uri="{FF2B5EF4-FFF2-40B4-BE49-F238E27FC236}">
                <a16:creationId xmlns:a16="http://schemas.microsoft.com/office/drawing/2014/main" id="{3DC4099A-FA3D-42A6-952D-CD5C0F1C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657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4A32"/>
          </a:solidFill>
        </p:spPr>
      </p:sp>
      <p:sp>
        <p:nvSpPr>
          <p:cNvPr id="33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4D67E678-E253-4FA6-BBD7-1FDA279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65785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8E8"/>
                </a:solidFill>
              </a:defRPr>
            </a:pPr>
            <a:r>
              <a:rPr sz="2250" b="1">
                <a:solidFill>
                  <a:srgbClr val="FFF8E8"/>
                </a:solidFill>
              </a:rPr>
              <a:t>选择压力</a:t>
            </a:r>
          </a:p>
        </p:txBody>
      </p:sp>
      <p:sp>
        <p:nvSpPr>
          <p:cNvPr id="34" name="bullet-body">
            <a:extLst xmlns:a="http://schemas.openxmlformats.org/drawingml/2006/main">
              <a:ext uri="{FF2B5EF4-FFF2-40B4-BE49-F238E27FC236}">
                <a16:creationId xmlns:a16="http://schemas.microsoft.com/office/drawing/2014/main" id="{600C7435-D4D1-490B-9C67-E01B5CA3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076950"/>
            <a:ext cx="567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背包 6 格限制让玩家必须决定保留哪种结构组合。</a:t>
            </a:r>
          </a:p>
        </p:txBody>
      </p:sp>
      <p:sp>
        <p:nvSpPr>
          <p:cNvPr id="35" name="bullet-dot">
            <a:extLst xmlns:a="http://schemas.openxmlformats.org/drawingml/2006/main">
              <a:ext uri="{FF2B5EF4-FFF2-40B4-BE49-F238E27FC236}">
                <a16:creationId xmlns:a16="http://schemas.microsoft.com/office/drawing/2014/main" id="{E1EA47A3-990B-4A7D-897B-2ED2FF3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61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D76"/>
          </a:solidFill>
        </p:spPr>
      </p:sp>
      <p:sp>
        <p:nvSpPr>
          <p:cNvPr id="36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06F06903-1A50-4F47-965D-0198F862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61035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8E8"/>
                </a:solidFill>
              </a:defRPr>
            </a:pPr>
            <a:r>
              <a:rPr sz="2250" b="1">
                <a:solidFill>
                  <a:srgbClr val="FFF8E8"/>
                </a:solidFill>
              </a:rPr>
              <a:t>永久目标</a:t>
            </a:r>
          </a:p>
        </p:txBody>
      </p:sp>
      <p:sp>
        <p:nvSpPr>
          <p:cNvPr id="37" name="bullet-body">
            <a:extLst xmlns:a="http://schemas.openxmlformats.org/drawingml/2006/main">
              <a:ext uri="{FF2B5EF4-FFF2-40B4-BE49-F238E27FC236}">
                <a16:creationId xmlns:a16="http://schemas.microsoft.com/office/drawing/2014/main" id="{75D7415C-42E8-4410-871A-0EAE0103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7029450"/>
            <a:ext cx="567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CEAD"/>
                </a:solidFill>
              </a:defRPr>
            </a:pPr>
            <a:r>
              <a:rPr sz="1725">
                <a:solidFill>
                  <a:srgbClr val="D9CEAD"/>
                </a:solidFill>
              </a:rPr>
              <a:t>专用结构服务建筑解锁与长期成长，形成重复探索动力。</a:t>
            </a:r>
          </a:p>
        </p:txBody>
      </p:sp>
    </p:spTree>
    <p:extLst>
      <p:ext uri="{BB962C8B-B14F-4D97-AF65-F5344CB8AC3E}">
        <p14:creationId xmlns:p14="http://schemas.microsoft.com/office/powerpoint/2010/main" val="2700484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5b554abea4b0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7E5C4-4ABD-4153-AE99-4AEDCA65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D">
              <a:alpha val="38000"/>
            </a:srgbClr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81E37DF-9EFE-41C0-A74F-4619C7B2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05 建筑修补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34F335-8571-4224-9DBA-56D432E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9677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8E8"/>
                </a:solidFill>
              </a:defRPr>
            </a:pPr>
            <a:r>
              <a:rPr sz="4500" b="1">
                <a:solidFill>
                  <a:srgbClr val="FFF8E8"/>
                </a:solidFill>
              </a:rPr>
              <a:t>从通关结果，变成“这是我修好的建筑”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C44249-76E4-41AF-AD24-AC978151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6D7B5"/>
                </a:solidFill>
              </a:defRPr>
            </a:pPr>
            <a:r>
              <a:rPr sz="2100">
                <a:solidFill>
                  <a:srgbClr val="E6D7B5"/>
                </a:solidFill>
              </a:rPr>
              <a:t>修复材料把基地、关卡、建筑知识与情感连接串成闭环。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D9E49-EFDC-473D-A695-4C394FD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9390"/>
            <a:ext cx="2476500" cy="541020"/>
          </a:xfrm>
          <a:prstGeom xmlns:a="http://schemas.openxmlformats.org/drawingml/2006/main" prst="roundRect">
            <a:avLst>
              <a:gd name="adj" fmla="val 28169"/>
            </a:avLst>
          </a:prstGeom>
          <a:solidFill xmlns:a="http://schemas.openxmlformats.org/drawingml/2006/main">
            <a:srgbClr val="18231D">
              <a:alpha val="90000"/>
            </a:srgbClr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65A06-BB94-47CB-A114-F62900E7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7A43B"/>
                </a:solidFill>
              </a:defRPr>
            </a:pPr>
            <a:r>
              <a:rPr sz="1800" b="1">
                <a:solidFill>
                  <a:srgbClr val="D7A43B"/>
                </a:solidFill>
              </a:rPr>
              <a:t>收集结构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3B30C-D731-4F79-B8AE-E3870104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8E8"/>
                </a:solidFill>
              </a:defRPr>
            </a:pPr>
            <a:r>
              <a:rPr sz="2700" b="1">
                <a:solidFill>
                  <a:srgbClr val="FFF8E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32FEC-0049-4304-9603-D5011C1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39390"/>
            <a:ext cx="2476500" cy="541020"/>
          </a:xfrm>
          <a:prstGeom xmlns:a="http://schemas.openxmlformats.org/drawingml/2006/main" prst="roundRect">
            <a:avLst>
              <a:gd name="adj" fmla="val 28169"/>
            </a:avLst>
          </a:prstGeom>
          <a:solidFill xmlns:a="http://schemas.openxmlformats.org/drawingml/2006/main">
            <a:srgbClr val="18231D">
              <a:alpha val="90000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B166A-84B7-4935-9F6A-55EEE1F9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8D76"/>
                </a:solidFill>
              </a:defRPr>
            </a:pPr>
            <a:r>
              <a:rPr sz="1800" b="1">
                <a:solidFill>
                  <a:srgbClr val="4F8D76"/>
                </a:solidFill>
              </a:rPr>
              <a:t>上交建筑录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258EC-40DA-4BD3-AF90-6FBDF3F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8E8"/>
                </a:solidFill>
              </a:defRPr>
            </a:pPr>
            <a:r>
              <a:rPr sz="2700" b="1">
                <a:solidFill>
                  <a:srgbClr val="FFF8E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78A64-666E-42BD-858C-75DA6354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39390"/>
            <a:ext cx="2476500" cy="541020"/>
          </a:xfrm>
          <a:prstGeom xmlns:a="http://schemas.openxmlformats.org/drawingml/2006/main" prst="roundRect">
            <a:avLst>
              <a:gd name="adj" fmla="val 28169"/>
            </a:avLst>
          </a:prstGeom>
          <a:solidFill xmlns:a="http://schemas.openxmlformats.org/drawingml/2006/main">
            <a:srgbClr val="18231D">
              <a:alpha val="90000"/>
            </a:srgbClr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85984-6D00-4C0C-B9B1-8EA8F395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C8EA8"/>
                </a:solidFill>
              </a:defRPr>
            </a:pPr>
            <a:r>
              <a:rPr sz="1800" b="1">
                <a:solidFill>
                  <a:srgbClr val="4C8EA8"/>
                </a:solidFill>
              </a:rPr>
              <a:t>领取修补材料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4B5D9-86C1-4A64-BA0F-43E54899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8E8"/>
                </a:solidFill>
              </a:defRPr>
            </a:pPr>
            <a:r>
              <a:rPr sz="2700" b="1">
                <a:solidFill>
                  <a:srgbClr val="FFF8E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FF055-3D96-482C-9FB0-4B7A74D8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39390"/>
            <a:ext cx="2476500" cy="541020"/>
          </a:xfrm>
          <a:prstGeom xmlns:a="http://schemas.openxmlformats.org/drawingml/2006/main" prst="roundRect">
            <a:avLst>
              <a:gd name="adj" fmla="val 28169"/>
            </a:avLst>
          </a:prstGeom>
          <a:solidFill xmlns:a="http://schemas.openxmlformats.org/drawingml/2006/main">
            <a:srgbClr val="18231D">
              <a:alpha val="90000"/>
            </a:srgbClr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CEA9B-D2A9-43F7-ADE4-DA5DB2E2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765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34A32"/>
                </a:solidFill>
              </a:defRPr>
            </a:pPr>
            <a:r>
              <a:rPr sz="1800" b="1">
                <a:solidFill>
                  <a:srgbClr val="A34A32"/>
                </a:solidFill>
              </a:rPr>
              <a:t>修复破损建筑</a:t>
            </a:r>
          </a:p>
        </p:txBody>
      </p:sp>
    </p:spTree>
    <p:extLst>
      <p:ext uri="{BB962C8B-B14F-4D97-AF65-F5344CB8AC3E}">
        <p14:creationId xmlns:p14="http://schemas.microsoft.com/office/powerpoint/2010/main" val="1443337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93c7c66bf4fc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23BDE-4079-49AB-A035-84CC840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E0C">
              <a:alpha val="28000"/>
            </a:srgbClr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4246092-1164-4376-8F6A-00DBD18F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06 特色体验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DC217C-341A-4154-9E5E-8C082E6E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12268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8E8"/>
                </a:solidFill>
              </a:defRPr>
            </a:pPr>
            <a:r>
              <a:rPr sz="4200" b="1">
                <a:solidFill>
                  <a:srgbClr val="FFF8E8"/>
                </a:solidFill>
              </a:rPr>
              <a:t>玩家留下来，不只因为能学到，也因为过程足够好玩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DB52C-FB2C-420C-84FA-1BE487C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43800"/>
            <a:ext cx="399097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1E19">
              <a:alpha val="90000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BD362-6081-42AF-9C56-A2DF06C5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0"/>
            <a:ext cx="3543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7A43B"/>
                </a:solidFill>
              </a:defRPr>
            </a:pPr>
            <a:r>
              <a:rPr sz="2700" b="1">
                <a:solidFill>
                  <a:srgbClr val="D7A43B"/>
                </a:solidFill>
              </a:rPr>
              <a:t>截图合拍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5914B-69E9-420D-8E9B-B424B38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249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3E5BE"/>
                </a:solidFill>
              </a:defRPr>
            </a:pPr>
            <a:r>
              <a:rPr sz="1725">
                <a:solidFill>
                  <a:srgbClr val="F3E5BE"/>
                </a:solidFill>
              </a:rPr>
              <a:t>和建筑合影，留在相册里。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6C3C9-6D7C-4819-A9CC-9612FBC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7543800"/>
            <a:ext cx="399097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1E19">
              <a:alpha val="9000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8111E-6309-40B2-9454-AA8B196B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191500"/>
            <a:ext cx="3543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F8D76"/>
                </a:solidFill>
              </a:defRPr>
            </a:pPr>
            <a:r>
              <a:rPr sz="2700" b="1">
                <a:solidFill>
                  <a:srgbClr val="4F8D76"/>
                </a:solidFill>
              </a:rPr>
              <a:t>策略选择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C906C-07FE-4A79-9694-3BFD388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7249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3E5BE"/>
                </a:solidFill>
              </a:defRPr>
            </a:pPr>
            <a:r>
              <a:rPr sz="1725">
                <a:solidFill>
                  <a:srgbClr val="F3E5BE"/>
                </a:solidFill>
              </a:rPr>
              <a:t>临时构筑 + 永久成长。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3313E-B9FD-4BB6-9A13-90C47276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543800"/>
            <a:ext cx="399097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1E19">
              <a:alpha val="90000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DE26F-FB25-4F0A-9DDE-8E8CA1C6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8191500"/>
            <a:ext cx="3543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C8EA8"/>
                </a:solidFill>
              </a:defRPr>
            </a:pPr>
            <a:r>
              <a:rPr sz="2700" b="1">
                <a:solidFill>
                  <a:srgbClr val="4C8EA8"/>
                </a:solidFill>
              </a:rPr>
              <a:t>河狸问答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4C8A6-2DB1-4A75-8E03-3C6DB6A2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87249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3E5BE"/>
                </a:solidFill>
              </a:defRPr>
            </a:pPr>
            <a:r>
              <a:rPr sz="1725">
                <a:solidFill>
                  <a:srgbClr val="F3E5BE"/>
                </a:solidFill>
              </a:rPr>
              <a:t>通关后追问建筑知识。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3C169-FBA5-4109-9B0D-9F923C82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543800"/>
            <a:ext cx="399097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1E19">
              <a:alpha val="90000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36C47-5EBF-47AD-8145-F80C7947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91500"/>
            <a:ext cx="3543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34A32"/>
                </a:solidFill>
              </a:defRPr>
            </a:pPr>
            <a:r>
              <a:rPr sz="2700" b="1">
                <a:solidFill>
                  <a:srgbClr val="A34A32"/>
                </a:solidFill>
              </a:rPr>
              <a:t>割草爽感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D1B5B-0CE5-48AC-897C-20FC6CE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7249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3E5BE"/>
                </a:solidFill>
              </a:defRPr>
            </a:pPr>
            <a:r>
              <a:rPr sz="1725">
                <a:solidFill>
                  <a:srgbClr val="F3E5BE"/>
                </a:solidFill>
              </a:rPr>
              <a:t>低压力，高反馈，先玩进去。</a:t>
            </a:r>
          </a:p>
        </p:txBody>
      </p:sp>
    </p:spTree>
    <p:extLst>
      <p:ext uri="{BB962C8B-B14F-4D97-AF65-F5344CB8AC3E}">
        <p14:creationId xmlns:p14="http://schemas.microsoft.com/office/powerpoint/2010/main" val="14416287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B2A373A-75BA-42A2-B778-5E1C542D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7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E871EBBF-0CDF-4ADA-B2FA-7B7A054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23"/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B9711B8-E30E-4E07-B2DF-F0F30B4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07 技术实现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F52F18-8A11-4E02-91C9-EB360EC8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9944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8E8"/>
                </a:solidFill>
              </a:defRPr>
            </a:pPr>
            <a:r>
              <a:rPr sz="4350" b="1">
                <a:solidFill>
                  <a:srgbClr val="FFF8E8"/>
                </a:solidFill>
              </a:rPr>
              <a:t>技术不单独炫技，而是服务这条体验闭环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2CB5E-84BF-4541-A657-F6B7379A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53467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BC4F4-A1BE-40A4-924F-09679D1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A43B"/>
                </a:solidFill>
              </a:defRPr>
            </a:pPr>
            <a:r>
              <a:rPr sz="2550" b="1">
                <a:solidFill>
                  <a:srgbClr val="D7A43B"/>
                </a:solidFill>
              </a:rPr>
              <a:t>关卡解锁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72CF3-6FF4-4E80-A5F3-71575312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0E1BB"/>
                </a:solidFill>
              </a:defRPr>
            </a:pPr>
            <a:r>
              <a:rPr sz="1800">
                <a:solidFill>
                  <a:srgbClr val="F0E1BB"/>
                </a:solidFill>
              </a:rPr>
              <a:t>建筑修复状态决定后续关卡开放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911DB-A1B5-43F1-85A0-E6BD243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3B"/>
          </a:solidFill>
          <a:ln xmlns:a="http://schemas.openxmlformats.org/drawingml/2006/main" w="0">
            <a:solidFill>
              <a:srgbClr val="D7A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2D16A-6212-4A98-9C13-4DA02E77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AAC87"/>
                </a:solidFill>
              </a:defRPr>
            </a:pPr>
            <a:r>
              <a:rPr sz="1350">
                <a:solidFill>
                  <a:srgbClr val="BAAC87"/>
                </a:solidFill>
              </a:rPr>
              <a:t>GameplayStageCatalog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4D981-A2A0-442F-B7AD-1E032987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339340"/>
            <a:ext cx="53467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FD207-E3EE-4FDE-83AA-230BD37C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F8D76"/>
                </a:solidFill>
              </a:defRPr>
            </a:pPr>
            <a:r>
              <a:rPr sz="2550" b="1">
                <a:solidFill>
                  <a:srgbClr val="4F8D76"/>
                </a:solidFill>
              </a:rPr>
              <a:t>永久进度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77755-83AD-4A77-8AA9-A98541D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0E1BB"/>
                </a:solidFill>
              </a:defRPr>
            </a:pPr>
            <a:r>
              <a:rPr sz="1800">
                <a:solidFill>
                  <a:srgbClr val="F0E1BB"/>
                </a:solidFill>
              </a:rPr>
              <a:t>修复、图鉴、属性成长写入存档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1FBDE-EE4B-422D-B84E-CC05821A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D76"/>
          </a:solidFill>
          <a:ln xmlns:a="http://schemas.openxmlformats.org/drawingml/2006/main" w="0">
            <a:solidFill>
              <a:srgbClr val="4F8D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4CCDD-A981-4178-A5C6-EBB10554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AAC87"/>
                </a:solidFill>
              </a:defRPr>
            </a:pPr>
            <a:r>
              <a:rPr sz="1350">
                <a:solidFill>
                  <a:srgbClr val="BAAC87"/>
                </a:solidFill>
              </a:rPr>
              <a:t>RuntimeProgressState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0B5A3-A19C-4DEF-8F00-25AE804B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339340"/>
            <a:ext cx="53467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27B90-83B7-4CFA-ADEE-5347E611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3718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34A32"/>
                </a:solidFill>
              </a:defRPr>
            </a:pPr>
            <a:r>
              <a:rPr sz="2550" b="1">
                <a:solidFill>
                  <a:srgbClr val="A34A32"/>
                </a:solidFill>
              </a:rPr>
              <a:t>墨水词条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A0E48-3EAE-4354-84E4-2E7C3F8E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905250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0E1BB"/>
                </a:solidFill>
              </a:defRPr>
            </a:pPr>
            <a:r>
              <a:rPr sz="1800">
                <a:solidFill>
                  <a:srgbClr val="F0E1BB"/>
                </a:solidFill>
              </a:rPr>
              <a:t>背包结构实时影响武器形态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C0B88-6D3F-47A8-8BBC-6C910A97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3434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A32"/>
          </a:solidFill>
          <a:ln xmlns:a="http://schemas.openxmlformats.org/drawingml/2006/main" w="0">
            <a:solidFill>
              <a:srgbClr val="A34A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1C985-F5D3-4385-BB15-FC9DC2E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51485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AAC87"/>
                </a:solidFill>
              </a:defRPr>
            </a:pPr>
            <a:r>
              <a:rPr sz="1350">
                <a:solidFill>
                  <a:srgbClr val="BAAC87"/>
                </a:solidFill>
              </a:rPr>
              <a:t>InkModifierRuntimeConfig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D2649-2514-4D86-B367-4D8840DD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8845"/>
            <a:ext cx="53467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45D05-811C-40C0-9B6D-E6A34251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294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C8EA8"/>
                </a:solidFill>
              </a:defRPr>
            </a:pPr>
            <a:r>
              <a:rPr sz="2550" b="1">
                <a:solidFill>
                  <a:srgbClr val="4C8EA8"/>
                </a:solidFill>
              </a:rPr>
              <a:t>河狸助手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1D37F-74A2-48FF-B3D9-8FE7CDEA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62850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0E1BB"/>
                </a:solidFill>
              </a:defRPr>
            </a:pPr>
            <a:r>
              <a:rPr sz="1800">
                <a:solidFill>
                  <a:srgbClr val="F0E1BB"/>
                </a:solidFill>
              </a:rPr>
              <a:t>本地知识库、关键词问答、简短科普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186DD-2423-4FD3-BCC8-7941EC3F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EA8"/>
          </a:solidFill>
          <a:ln xmlns:a="http://schemas.openxmlformats.org/drawingml/2006/main" w="0">
            <a:solidFill>
              <a:srgbClr val="4C8E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66F2A-57DB-488B-A817-A79DF4B0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7245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AAC87"/>
                </a:solidFill>
              </a:defRPr>
            </a:pPr>
            <a:r>
              <a:rPr sz="1350">
                <a:solidFill>
                  <a:srgbClr val="BAAC87"/>
                </a:solidFill>
              </a:rPr>
              <a:t>BeaverAssistantRuntime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3D9CC-4D8E-4FE9-B2B2-C72CA40E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5998845"/>
            <a:ext cx="53467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3B57C-BA16-402B-B619-25BC94A5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0294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A43B"/>
                </a:solidFill>
              </a:defRPr>
            </a:pPr>
            <a:r>
              <a:rPr sz="2550" b="1">
                <a:solidFill>
                  <a:srgbClr val="D7A43B"/>
                </a:solidFill>
              </a:rPr>
              <a:t>相册系统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4E3A4-F1EE-44C5-AC80-B7D1DA5F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562850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0E1BB"/>
                </a:solidFill>
              </a:defRPr>
            </a:pPr>
            <a:r>
              <a:rPr sz="1800">
                <a:solidFill>
                  <a:srgbClr val="F0E1BB"/>
                </a:solidFill>
              </a:rPr>
              <a:t>截图保存、相册查看、情感留存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B0CAC-61A8-4540-9324-FFDD00BA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0010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3B"/>
          </a:solidFill>
          <a:ln xmlns:a="http://schemas.openxmlformats.org/drawingml/2006/main" w="0">
            <a:solidFill>
              <a:srgbClr val="D7A4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80430-2814-4336-95F6-B90E867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17245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AAC87"/>
                </a:solidFill>
              </a:defRPr>
            </a:pPr>
            <a:r>
              <a:rPr sz="1350">
                <a:solidFill>
                  <a:srgbClr val="BAAC87"/>
                </a:solidFill>
              </a:rPr>
              <a:t>PhotoAlbumRepository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4627B-C48C-4580-B937-9CA34B5F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5998845"/>
            <a:ext cx="53467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03CC3-8571-454C-8F99-9931A44C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0294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5F58"/>
                </a:solidFill>
              </a:defRPr>
            </a:pPr>
            <a:r>
              <a:rPr sz="2550" b="1">
                <a:solidFill>
                  <a:srgbClr val="2A5F58"/>
                </a:solidFill>
              </a:rPr>
              <a:t>失败流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1E1DA-7817-4DA3-8B00-8452D6E4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562850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0E1BB"/>
                </a:solidFill>
              </a:defRPr>
            </a:pPr>
            <a:r>
              <a:rPr sz="1800">
                <a:solidFill>
                  <a:srgbClr val="F0E1BB"/>
                </a:solidFill>
              </a:rPr>
              <a:t>死亡与超时让撤离决策成立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1856A3-0371-466B-AD3D-8512E479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80010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F58"/>
          </a:solidFill>
          <a:ln xmlns:a="http://schemas.openxmlformats.org/drawingml/2006/main" w="0">
            <a:solidFill>
              <a:srgbClr val="2A5F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2C950E-CE34-4215-B85C-4BB53CE2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817245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AAC87"/>
                </a:solidFill>
              </a:defRPr>
            </a:pPr>
            <a:r>
              <a:rPr sz="1350">
                <a:solidFill>
                  <a:srgbClr val="BAAC87"/>
                </a:solidFill>
              </a:rPr>
              <a:t>GameplayFailureController</a:t>
            </a:r>
          </a:p>
        </p:txBody>
      </p:sp>
    </p:spTree>
    <p:extLst>
      <p:ext uri="{BB962C8B-B14F-4D97-AF65-F5344CB8AC3E}">
        <p14:creationId xmlns:p14="http://schemas.microsoft.com/office/powerpoint/2010/main" val="5639376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503AE29-AFA2-4FFD-9A25-1E84DA3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7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54A05D99-5909-488C-AEDD-53689E3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23"/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8403C70-0BAD-4D1A-9F1F-0B1A60FB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08 项目完成度与演示路径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36AB74-6AB2-407C-AFCA-6303386A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10496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8E8"/>
                </a:solidFill>
              </a:defRPr>
            </a:pPr>
            <a:r>
              <a:rPr sz="4350" b="1">
                <a:solidFill>
                  <a:srgbClr val="FFF8E8"/>
                </a:solidFill>
              </a:rPr>
              <a:t>现场演示按真实主循环走，评委最容易看懂</a:t>
            </a:r>
          </a:p>
        </p:txBody>
      </p:sp>
      <p:sp>
        <p:nvSpPr>
          <p:cNvPr id="5" name="image-stage">
            <a:extLst xmlns:a="http://schemas.openxmlformats.org/drawingml/2006/main">
              <a:ext uri="{FF2B5EF4-FFF2-40B4-BE49-F238E27FC236}">
                <a16:creationId xmlns:a16="http://schemas.microsoft.com/office/drawing/2014/main" id="{0001344D-4F2E-450E-A1C3-8589CA4E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3140"/>
            <a:ext cx="7600950" cy="722376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E8D8B3"/>
          </a:solidFill>
        </p:spPr>
      </p:sp>
      <p:pic>
        <p:nvPicPr>
          <p:cNvPr id="6" name="stage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aa37d95294f0f"/>
          <a:stretch xmlns:a="http://schemas.openxmlformats.org/drawingml/2006/main"/>
        </p:blipFill>
        <p:spPr>
          <a:xfrm xmlns:a="http://schemas.openxmlformats.org/drawingml/2006/main">
            <a:off x="1047750" y="2434590"/>
            <a:ext cx="7258050" cy="6880860"/>
          </a:xfrm>
          <a:prstGeom xmlns:a="http://schemas.openxmlformats.org/drawingml/2006/main" prst="rect">
            <a:avLst/>
          </a:prstGeom>
        </p:spPr>
      </p:pic>
      <p:sp>
        <p:nvSpPr>
          <p:cNvPr id="7" name="label-01">
            <a:extLst xmlns:a="http://schemas.openxmlformats.org/drawingml/2006/main">
              <a:ext uri="{FF2B5EF4-FFF2-40B4-BE49-F238E27FC236}">
                <a16:creationId xmlns:a16="http://schemas.microsoft.com/office/drawing/2014/main" id="{269ED10A-CA0D-4A07-9919-A0939C5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81500"/>
            <a:ext cx="565309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D7A43B"/>
          </a:solidFill>
        </p:spPr>
      </p:sp>
      <p:sp>
        <p:nvSpPr>
          <p:cNvPr id="8" name="label-text">
            <a:extLst xmlns:a="http://schemas.openxmlformats.org/drawingml/2006/main">
              <a:ext uri="{FF2B5EF4-FFF2-40B4-BE49-F238E27FC236}">
                <a16:creationId xmlns:a16="http://schemas.microsoft.com/office/drawing/2014/main" id="{6C893BEF-51BB-4198-ACB0-7557C4C9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767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FF74-1E04-41F1-ACEE-E3A28295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1960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8E8"/>
                </a:solidFill>
              </a:defRPr>
            </a:pPr>
            <a:r>
              <a:rPr sz="2250">
                <a:solidFill>
                  <a:srgbClr val="FFF8E8"/>
                </a:solidFill>
              </a:rPr>
              <a:t>从基地进入关卡</a:t>
            </a:r>
          </a:p>
        </p:txBody>
      </p:sp>
      <p:sp>
        <p:nvSpPr>
          <p:cNvPr id="10" name="label-02">
            <a:extLst xmlns:a="http://schemas.openxmlformats.org/drawingml/2006/main">
              <a:ext uri="{FF2B5EF4-FFF2-40B4-BE49-F238E27FC236}">
                <a16:creationId xmlns:a16="http://schemas.microsoft.com/office/drawing/2014/main" id="{45A5A9E7-92CE-435C-A916-98AB6ACE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29200"/>
            <a:ext cx="565309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4F8D76"/>
          </a:solidFill>
        </p:spPr>
      </p:sp>
      <p:sp>
        <p:nvSpPr>
          <p:cNvPr id="11" name="label-text">
            <a:extLst xmlns:a="http://schemas.openxmlformats.org/drawingml/2006/main">
              <a:ext uri="{FF2B5EF4-FFF2-40B4-BE49-F238E27FC236}">
                <a16:creationId xmlns:a16="http://schemas.microsoft.com/office/drawing/2014/main" id="{695927E0-8441-407A-BAE0-CC2E2BD7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244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1F6C4-EC6B-49EE-8F65-1924600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6730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8E8"/>
                </a:solidFill>
              </a:defRPr>
            </a:pPr>
            <a:r>
              <a:rPr sz="2250">
                <a:solidFill>
                  <a:srgbClr val="FFF8E8"/>
                </a:solidFill>
              </a:rPr>
              <a:t>收集结构并展示武器变化</a:t>
            </a:r>
          </a:p>
        </p:txBody>
      </p:sp>
      <p:sp>
        <p:nvSpPr>
          <p:cNvPr id="13" name="label-03">
            <a:extLst xmlns:a="http://schemas.openxmlformats.org/drawingml/2006/main">
              <a:ext uri="{FF2B5EF4-FFF2-40B4-BE49-F238E27FC236}">
                <a16:creationId xmlns:a16="http://schemas.microsoft.com/office/drawing/2014/main" id="{14F5D61D-5C44-44DB-AC0F-58B6E09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57850"/>
            <a:ext cx="565309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4C8EA8"/>
          </a:solidFill>
        </p:spPr>
      </p:sp>
      <p:sp>
        <p:nvSpPr>
          <p:cNvPr id="14" name="label-text">
            <a:extLst xmlns:a="http://schemas.openxmlformats.org/drawingml/2006/main">
              <a:ext uri="{FF2B5EF4-FFF2-40B4-BE49-F238E27FC236}">
                <a16:creationId xmlns:a16="http://schemas.microsoft.com/office/drawing/2014/main" id="{E299C9CB-AF6C-4764-9733-DE784C9D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75310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1ACB6-303A-418D-BAC8-776703CD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9595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8E8"/>
                </a:solidFill>
              </a:defRPr>
            </a:pPr>
            <a:r>
              <a:rPr sz="2250">
                <a:solidFill>
                  <a:srgbClr val="FFF8E8"/>
                </a:solidFill>
              </a:rPr>
              <a:t>撤回基地提交建筑录</a:t>
            </a:r>
          </a:p>
        </p:txBody>
      </p:sp>
      <p:sp>
        <p:nvSpPr>
          <p:cNvPr id="16" name="label-04">
            <a:extLst xmlns:a="http://schemas.openxmlformats.org/drawingml/2006/main">
              <a:ext uri="{FF2B5EF4-FFF2-40B4-BE49-F238E27FC236}">
                <a16:creationId xmlns:a16="http://schemas.microsoft.com/office/drawing/2014/main" id="{8737E94C-42EB-4F0C-BC41-94097237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05550"/>
            <a:ext cx="565309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A34A32"/>
          </a:solidFill>
        </p:spPr>
      </p:sp>
      <p:sp>
        <p:nvSpPr>
          <p:cNvPr id="17" name="label-text">
            <a:extLst xmlns:a="http://schemas.openxmlformats.org/drawingml/2006/main">
              <a:ext uri="{FF2B5EF4-FFF2-40B4-BE49-F238E27FC236}">
                <a16:creationId xmlns:a16="http://schemas.microsoft.com/office/drawing/2014/main" id="{FD59FAF6-C301-436A-A19A-AFE78166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0080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4858A-E98B-4686-8318-8FB8F860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4365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8E8"/>
                </a:solidFill>
              </a:defRPr>
            </a:pPr>
            <a:r>
              <a:rPr sz="2250">
                <a:solidFill>
                  <a:srgbClr val="FFF8E8"/>
                </a:solidFill>
              </a:rPr>
              <a:t>领取修复材料并修复建筑</a:t>
            </a:r>
          </a:p>
        </p:txBody>
      </p:sp>
      <p:sp>
        <p:nvSpPr>
          <p:cNvPr id="19" name="label-05">
            <a:extLst xmlns:a="http://schemas.openxmlformats.org/drawingml/2006/main">
              <a:ext uri="{FF2B5EF4-FFF2-40B4-BE49-F238E27FC236}">
                <a16:creationId xmlns:a16="http://schemas.microsoft.com/office/drawing/2014/main" id="{71FD1165-E79A-4B53-8026-306F776A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953250"/>
            <a:ext cx="565309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D7A43B"/>
          </a:solidFill>
        </p:spPr>
      </p:sp>
      <p:sp>
        <p:nvSpPr>
          <p:cNvPr id="20" name="label-text">
            <a:extLst xmlns:a="http://schemas.openxmlformats.org/drawingml/2006/main">
              <a:ext uri="{FF2B5EF4-FFF2-40B4-BE49-F238E27FC236}">
                <a16:creationId xmlns:a16="http://schemas.microsoft.com/office/drawing/2014/main" id="{ABB34DCC-36FB-478E-9690-E00D5948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4850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A17"/>
                </a:solidFill>
              </a:defRPr>
            </a:pPr>
            <a:r>
              <a:rPr sz="1575" b="1">
                <a:solidFill>
                  <a:srgbClr val="111A17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EE1AF-E504-4E9A-9291-6A292736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99135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8E8"/>
                </a:solidFill>
              </a:defRPr>
            </a:pPr>
            <a:r>
              <a:rPr sz="2250">
                <a:solidFill>
                  <a:srgbClr val="FFF8E8"/>
                </a:solidFill>
              </a:rPr>
              <a:t>查看图鉴、相册和河狸问答</a:t>
            </a:r>
          </a:p>
        </p:txBody>
      </p:sp>
    </p:spTree>
    <p:extLst>
      <p:ext uri="{BB962C8B-B14F-4D97-AF65-F5344CB8AC3E}">
        <p14:creationId xmlns:p14="http://schemas.microsoft.com/office/powerpoint/2010/main" val="7646051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F4CEF9C-C79B-4A2A-99C0-7BB33201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7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4CB5C67B-4BC5-47BC-AA60-F5044ED6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31A"/>
          </a:solidFill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C163727-8D45-441A-81D3-C21ADDD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C979"/>
                </a:solidFill>
              </a:defRPr>
            </a:pPr>
            <a:r>
              <a:rPr sz="1500" b="1">
                <a:solidFill>
                  <a:srgbClr val="F0C979"/>
                </a:solidFill>
              </a:rPr>
              <a:t>09 总结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C775A8-B6D0-4F68-A626-4D9934E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10039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8E8"/>
                </a:solidFill>
              </a:defRPr>
            </a:pPr>
            <a:r>
              <a:rPr sz="4650" b="1">
                <a:solidFill>
                  <a:srgbClr val="FFF8E8"/>
                </a:solidFill>
              </a:rPr>
              <a:t>我们希望玩家记住的，不只是建筑名字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1641D9-44CA-4992-B15D-D3508B72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600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E6D7B5"/>
                </a:solidFill>
              </a:defRPr>
            </a:pPr>
            <a:r>
              <a:rPr sz="3150">
                <a:solidFill>
                  <a:srgbClr val="E6D7B5"/>
                </a:solidFill>
              </a:rPr>
              <a:t>而是亲手把它修复回来的过程。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E9BA6-59D8-4212-9E16-476F05D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3270"/>
            <a:ext cx="52959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B224E-D14A-4713-9100-EE1C51B5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72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7A43B"/>
                </a:solidFill>
              </a:defRPr>
            </a:pPr>
            <a:r>
              <a:rPr sz="3000" b="1">
                <a:solidFill>
                  <a:srgbClr val="D7A43B"/>
                </a:solidFill>
              </a:rPr>
              <a:t>游戏价值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BCF0B-CC97-4946-A4BC-8B56298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472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8D9B6"/>
                </a:solidFill>
              </a:defRPr>
            </a:pPr>
            <a:r>
              <a:rPr sz="1875">
                <a:solidFill>
                  <a:srgbClr val="E8D9B6"/>
                </a:solidFill>
              </a:rPr>
              <a:t>搜打撤循环清晰，战斗反馈轻松，构筑变化明确。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8B6F5-27BA-4CCF-8811-349869DA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3270"/>
            <a:ext cx="52959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79822-8C90-4053-B883-FD1A7848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472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F8D76"/>
                </a:solidFill>
              </a:defRPr>
            </a:pPr>
            <a:r>
              <a:rPr sz="3000" b="1">
                <a:solidFill>
                  <a:srgbClr val="4F8D76"/>
                </a:solidFill>
              </a:rPr>
              <a:t>教育价值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4220D-B88F-4D0C-97B4-9EF082D9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14900"/>
            <a:ext cx="472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8D9B6"/>
                </a:solidFill>
              </a:defRPr>
            </a:pPr>
            <a:r>
              <a:rPr sz="1875">
                <a:solidFill>
                  <a:srgbClr val="E8D9B6"/>
                </a:solidFill>
              </a:rPr>
              <a:t>建筑知识被嵌入收集、修复、问答与相册记忆中。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9CD45-C1A7-42AC-864E-1FE87CDA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03270"/>
            <a:ext cx="52959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4362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DA3A1-F89D-416A-8B46-5B8D05A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00550"/>
            <a:ext cx="472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34A32"/>
                </a:solidFill>
              </a:defRPr>
            </a:pPr>
            <a:r>
              <a:rPr sz="3000" b="1">
                <a:solidFill>
                  <a:srgbClr val="A34A32"/>
                </a:solidFill>
              </a:rPr>
              <a:t>情感价值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1A818-8A0D-40E5-8B02-A18B67F7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048250"/>
            <a:ext cx="472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8D9B6"/>
                </a:solidFill>
              </a:defRPr>
            </a:pPr>
            <a:r>
              <a:rPr sz="1875">
                <a:solidFill>
                  <a:srgbClr val="E8D9B6"/>
                </a:solidFill>
              </a:rPr>
              <a:t>玩家不是旁观者，而是建筑录的修复者。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8F62F-CE0A-4045-9B02-3A327E7C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535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EAF8B"/>
                </a:solidFill>
              </a:defRPr>
            </a:pPr>
            <a:r>
              <a:rPr sz="1650">
                <a:solidFill>
                  <a:srgbClr val="BEAF8B"/>
                </a:solidFill>
              </a:rPr>
              <a:t>Arcitecture · 中国建筑录</a:t>
            </a:r>
          </a:p>
        </p:txBody>
      </p:sp>
    </p:spTree>
    <p:extLst>
      <p:ext uri="{BB962C8B-B14F-4D97-AF65-F5344CB8AC3E}">
        <p14:creationId xmlns:p14="http://schemas.microsoft.com/office/powerpoint/2010/main" val="565594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2026-04-29T12:55:28.6930000Z</dcterms:created>
  <dcterms:modified xsi:type="dcterms:W3CDTF">2026-04-29T12:55:28.6930000Z</dcterms:modified>
</coreProperties>
</file>